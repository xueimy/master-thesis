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b6ee53a43466e" /><Relationship Type="http://schemas.openxmlformats.org/officeDocument/2006/relationships/extended-properties" Target="/docProps/app.xml" Id="Rd2db5a9e163d48b2" /><Relationship Type="http://schemas.openxmlformats.org/officeDocument/2006/relationships/officeDocument" Target="/ppt/presentation.xml" Id="R4f3e0d3f45a4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73d1cfaae41c5"/>
  </p:sldMasterIdLst>
  <p:notesMasterIdLst>
    <p:notesMasterId xmlns:r="http://schemas.openxmlformats.org/officeDocument/2006/relationships" r:id="R9ef1d524c1144dfe"/>
  </p:notesMasterIdLst>
  <p:sldIdLst>
    <p:sldId xmlns:r="http://schemas.openxmlformats.org/officeDocument/2006/relationships" id="256" r:id="R7ee4bdeddfe743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54d846c2547dc" /><Relationship Type="http://schemas.openxmlformats.org/officeDocument/2006/relationships/slideMaster" Target="/ppt/slideMasters/slideMaster1.xml" Id="Ra2473d1cfaae41c5" /><Relationship Type="http://schemas.openxmlformats.org/officeDocument/2006/relationships/notesMaster" Target="/ppt/notesMasters/notesMaster1.xml" Id="R9ef1d524c1144dfe" /><Relationship Type="http://schemas.openxmlformats.org/officeDocument/2006/relationships/presProps" Target="/ppt/presProps.xml" Id="R50510aa2ee964a30" /><Relationship Type="http://schemas.openxmlformats.org/officeDocument/2006/relationships/tableStyles" Target="/ppt/tableStyles.xml" Id="R72441d4fda0c4736" /><Relationship Type="http://schemas.openxmlformats.org/officeDocument/2006/relationships/slide" Target="/ppt/slides/slide1.xml" Id="R7ee4bdeddfe7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8ff149c61442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44f41e62fe426d" /><Relationship Type="http://schemas.openxmlformats.org/officeDocument/2006/relationships/notesMaster" Target="/ppt/notesMasters/notesMaster1.xml" Id="R2e673e8088f547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本页将三张图压缩为一页，三行是不同问题的文献依据，不构成单一因果模型。</a:t>
            </a:r>
          </a:p>
          <a:p xmlns:a="http://schemas.openxmlformats.org/drawingml/2006/main">
            <a:r>
              <a:t>1. Conway &amp; Pleydell-Pearce (2000), The construction of autobiographical memories in the self-memory system. https://pubmed.ncbi.nlm.nih.gov/10789197/ 自传体知识与当前目标共同参与具体回忆的建构。图示为简化。</a:t>
            </a:r>
          </a:p>
          <a:p xmlns:a="http://schemas.openxmlformats.org/drawingml/2006/main">
            <a:r>
              <a:t>Rubin (2006), The Basic-Systems Model of Episodic Memory. https://pubmed.ncbi.nlm.nih.gov/26151796/ 多种系统相互作用；该观点作为补充，不与自我—记忆系统合并为同一理论。</a:t>
            </a:r>
          </a:p>
          <a:p xmlns:a="http://schemas.openxmlformats.org/drawingml/2006/main">
            <a:r>
              <a:t>2. Hutmacher et al. (2025). https://doi.org/10.1186/s41235-025-00627-4 41人回忆约一年前的重要日与随机日，观察到内部回忆与外部资源的往返，随机日使用更多数字资源并出现更多切换。资料不限于影像。</a:t>
            </a:r>
          </a:p>
          <a:p xmlns:a="http://schemas.openxmlformats.org/drawingml/2006/main">
            <a:r>
              <a:t>Harper (2002), Talking about pictures: A case for photo elicitation. https://doi.org/10.1080/14725860220137345 照片进入访谈、引出信息感受和记忆，不能推定提高回忆准确性。</a:t>
            </a:r>
          </a:p>
          <a:p xmlns:a="http://schemas.openxmlformats.org/drawingml/2006/main">
            <a:r>
              <a:t>3. Rosas &amp; Dittus (2021; online 2020), The autobiographical documentary: archive and montage to represent the self. https://doi.org/10.1080/17503280.2020.1815123 分析Tarnation、51 Birch Street、The Marina Experiment，讨论个人档案重新语境化与身份表达。不作为回忆能力改善的证据。</a:t>
            </a:r>
          </a:p>
          <a:p xmlns:a="http://schemas.openxmlformats.org/drawingml/2006/main">
            <a:r>
              <a:t>核读范围沿用项目原记录；本轮没有新增全文审计。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e1d7a73f349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e6dcf16c043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65e19700c49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a33458ab849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2232243e547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7c08c5af0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8177A8-EFFA-42D4-809C-614207569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30095C-509D-470B-A2EE-06A2534F50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C2562B-7E64-4D13-9BF6-91154EA86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BC8F4C-E2F1-4567-99A3-DDAFBB14A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AB0AC1-CC87-4D0F-A4A9-72C3697BBD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8E2856-D2CB-4193-8C8A-7BBA75CCA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EE0B9F-74E1-4493-A1E8-A7A52EDB59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5D5781-7668-4B3E-8C49-113ED05F2D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55B9B8-798E-4FB9-BBB4-5C32C3A53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173BC9-E982-48FB-8986-6A1A0766D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0cc43799294499" /><Relationship Type="http://schemas.openxmlformats.org/officeDocument/2006/relationships/slideLayout" Target="/ppt/slideLayouts/slideLayout1.xml" Id="Rb5e8399e5e6b4cef" /><Relationship Type="http://schemas.openxmlformats.org/officeDocument/2006/relationships/slideLayout" Target="/ppt/slideLayouts/slideLayout2.xml" Id="Rf0d805e181d344c8" /><Relationship Type="http://schemas.openxmlformats.org/officeDocument/2006/relationships/slideLayout" Target="/ppt/slideLayouts/slideLayout3.xml" Id="Rba3a75a431e54e0a" /><Relationship Type="http://schemas.openxmlformats.org/officeDocument/2006/relationships/slideLayout" Target="/ppt/slideLayouts/slideLayout4.xml" Id="Rbf34597931b843b2" /><Relationship Type="http://schemas.openxmlformats.org/officeDocument/2006/relationships/slideLayout" Target="/ppt/slideLayouts/slideLayout5.xml" Id="R451e07bfa0f140dd" /><Relationship Type="http://schemas.openxmlformats.org/officeDocument/2006/relationships/slideLayout" Target="/ppt/slideLayouts/slideLayout6.xml" Id="R89f51a690edc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8399e5e6b4cef"/>
    <p:sldLayoutId xmlns:r="http://schemas.openxmlformats.org/officeDocument/2006/relationships" id="2147483650" r:id="Rf0d805e181d344c8"/>
    <p:sldLayoutId xmlns:r="http://schemas.openxmlformats.org/officeDocument/2006/relationships" id="2147483651" r:id="Rba3a75a431e54e0a"/>
    <p:sldLayoutId xmlns:r="http://schemas.openxmlformats.org/officeDocument/2006/relationships" id="2147483652" r:id="Rbf34597931b843b2"/>
    <p:sldLayoutId xmlns:r="http://schemas.openxmlformats.org/officeDocument/2006/relationships" id="2147483653" r:id="R451e07bfa0f140dd"/>
    <p:sldLayoutId xmlns:r="http://schemas.openxmlformats.org/officeDocument/2006/relationships" id="2147483654" r:id="R89f51a690edc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42db61fb244a9" /><Relationship Type="http://schemas.openxmlformats.org/officeDocument/2006/relationships/notesSlide" Target="/ppt/notesSlides/notesSlide1.xml" Id="Ra835467d9764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BF6459-7C4A-48FB-A11D-17F18B85C4F4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286625" y="5738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A83"/>
            </a:solidFill>
            <a:tail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E303D0-FCB2-4DF2-BA4D-D19F2B9F0ECD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524375" y="5738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A83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50801-68C2-4FAC-A0CD-F5A9D01E9E82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857750" y="38100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A83"/>
            </a:solidFill>
            <a:headEnd type="arrow" w="sm" len="sm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806F3-20AE-4111-83E9-034FA38C82C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667125" y="18573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A83"/>
            </a:solidFill>
            <a:headEnd type="arrow" w="sm" len="sm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0D233-B3A6-4BDB-A650-07B2A43971C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86625" y="19621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6A83"/>
            </a:solidFill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15EFF-F448-4B77-B127-9D7C5FE8CCE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476750" y="1962150"/>
            <a:ext cx="66675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76A83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97C78-D4BE-41B3-8C0D-50641C92C98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76750" y="1647825"/>
            <a:ext cx="66675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76A83"/>
            </a:solidFill>
            <a:tailEnd type="arrow" w="sm" len="sm"/>
          </a:ln>
        </p:spPr>
      </p:cxnSp>
      <p:sp>
        <p:nvSpPr>
          <p:cNvPr id="37" name="2.1 个人回忆与影像表达的相关研究">
            <a:extLst xmlns:a="http://schemas.openxmlformats.org/drawingml/2006/main">
              <a:ext uri="{FF2B5EF4-FFF2-40B4-BE49-F238E27FC236}">
                <a16:creationId xmlns:a16="http://schemas.microsoft.com/office/drawing/2014/main" id="{9BC2B044-6AB3-42AA-B166-FEEE0D75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650"/>
            <a:ext cx="1128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2.1 个人回忆与影像表达的相关研究</a:t>
            </a:r>
          </a:p>
        </p:txBody>
      </p:sp>
      <p:sp>
        <p:nvSpPr>
          <p:cNvPr id="2" name="回忆的建构、材料的参与与影像的表达">
            <a:extLst xmlns:a="http://schemas.openxmlformats.org/drawingml/2006/main">
              <a:ext uri="{FF2B5EF4-FFF2-40B4-BE49-F238E27FC236}">
                <a16:creationId xmlns:a16="http://schemas.microsoft.com/office/drawing/2014/main" id="{39B1EE39-B546-4AFB-B615-6E521F53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42950"/>
            <a:ext cx="1128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回忆的建构、材料的参与与影像的表达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2CDAE-6043-4E22-A7E3-63131F6186B1}"/>
              </a:ext>
            </a:extLst>
          </p:cNvPr>
          <p:cNvCxnSpPr/>
          <p:nvPr/>
        </p:nvCxnSpPr>
        <p:spPr>
          <a:xfrm xmlns:a="http://schemas.openxmlformats.org/drawingml/2006/main">
            <a:off x="428625" y="1190625"/>
            <a:ext cx="11334750" cy="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C9DEE5"/>
            </a:solidFill>
          </a:ln>
        </p:spPr>
      </p:cxnSp>
      <p:sp>
        <p:nvSpPr>
          <p:cNvPr id="4" name="01  个人回忆">
            <a:extLst xmlns:a="http://schemas.openxmlformats.org/drawingml/2006/main">
              <a:ext uri="{FF2B5EF4-FFF2-40B4-BE49-F238E27FC236}">
                <a16:creationId xmlns:a16="http://schemas.microsoft.com/office/drawing/2014/main" id="{91CE81FB-B4AC-4197-AF85-33CEED6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01  个人回忆</a:t>
            </a:r>
          </a:p>
        </p:txBody>
      </p:sp>
      <p:sp>
        <p:nvSpPr>
          <p:cNvPr id="5" name="个人回忆&#10;怎样形成？">
            <a:extLst xmlns:a="http://schemas.openxmlformats.org/drawingml/2006/main">
              <a:ext uri="{FF2B5EF4-FFF2-40B4-BE49-F238E27FC236}">
                <a16:creationId xmlns:a16="http://schemas.microsoft.com/office/drawing/2014/main" id="{D1B14390-926C-49B6-BD13-82BA4F3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个人回忆</a:t>
            </a:r>
          </a:p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怎样形成？</a:t>
            </a:r>
          </a:p>
        </p:txBody>
      </p:sp>
      <p:sp>
        <p:nvSpPr>
          <p:cNvPr id="6" name="自传体知识">
            <a:extLst xmlns:a="http://schemas.openxmlformats.org/drawingml/2006/main">
              <a:ext uri="{FF2B5EF4-FFF2-40B4-BE49-F238E27FC236}">
                <a16:creationId xmlns:a16="http://schemas.microsoft.com/office/drawing/2014/main" id="{AF1FE550-DE72-4374-A810-87576B0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38275"/>
            <a:ext cx="16192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自传体知识</a:t>
            </a:r>
          </a:p>
        </p:txBody>
      </p:sp>
      <p:sp>
        <p:nvSpPr>
          <p:cNvPr id="7" name="当前目标">
            <a:extLst xmlns:a="http://schemas.openxmlformats.org/drawingml/2006/main">
              <a:ext uri="{FF2B5EF4-FFF2-40B4-BE49-F238E27FC236}">
                <a16:creationId xmlns:a16="http://schemas.microsoft.com/office/drawing/2014/main" id="{F1548CBD-A2DF-468B-97B8-D382177D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16192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当前目标</a:t>
            </a:r>
          </a:p>
        </p:txBody>
      </p:sp>
      <p:sp>
        <p:nvSpPr>
          <p:cNvPr id="8" name="线索引导的&#10;提取与建构">
            <a:extLst xmlns:a="http://schemas.openxmlformats.org/drawingml/2006/main">
              <a:ext uri="{FF2B5EF4-FFF2-40B4-BE49-F238E27FC236}">
                <a16:creationId xmlns:a16="http://schemas.microsoft.com/office/drawing/2014/main" id="{45266030-C150-4612-8210-EBBD14F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21431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线索引导的</a:t>
            </a:r>
          </a:p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提取与建构</a:t>
            </a:r>
          </a:p>
        </p:txBody>
      </p:sp>
      <p:sp>
        <p:nvSpPr>
          <p:cNvPr id="9" name="具体的个人回忆">
            <a:extLst xmlns:a="http://schemas.openxmlformats.org/drawingml/2006/main">
              <a:ext uri="{FF2B5EF4-FFF2-40B4-BE49-F238E27FC236}">
                <a16:creationId xmlns:a16="http://schemas.microsoft.com/office/drawing/2014/main" id="{066DC561-614C-4AEA-8B14-A51464D5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57350"/>
            <a:ext cx="17621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具体的个人回忆</a:t>
            </a:r>
          </a:p>
        </p:txBody>
      </p:sp>
      <p:sp>
        <p:nvSpPr>
          <p:cNvPr id="14" name="回忆具有建构性&#10;涉及多种系统">
            <a:extLst xmlns:a="http://schemas.openxmlformats.org/drawingml/2006/main">
              <a:ext uri="{FF2B5EF4-FFF2-40B4-BE49-F238E27FC236}">
                <a16:creationId xmlns:a16="http://schemas.microsoft.com/office/drawing/2014/main" id="{9CE71F39-519D-40ED-B8F9-0554B837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90675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回忆具有建构性</a:t>
            </a:r>
          </a:p>
          <a:p xmlns:a="http://schemas.openxmlformats.org/drawingml/2006/main">
            <a:pPr algn="l">
              <a:def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涉及多种系统</a:t>
            </a:r>
          </a:p>
        </p:txBody>
      </p:sp>
      <p:sp>
        <p:nvSpPr>
          <p:cNvPr id="15" name="Conway &amp; Pleydell-Pearce（2000）；Rubin（2006，多系统视角）">
            <a:extLst xmlns:a="http://schemas.openxmlformats.org/drawingml/2006/main">
              <a:ext uri="{FF2B5EF4-FFF2-40B4-BE49-F238E27FC236}">
                <a16:creationId xmlns:a16="http://schemas.microsoft.com/office/drawing/2014/main" id="{03AC0FA5-533A-4083-9EFD-935665BE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Conway &amp; Pleydell-Pearce（2000）；Rubin（2006，多系统视角）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E98FA-4CF5-47E6-8FB1-06B1DD1B9606}"/>
              </a:ext>
            </a:extLst>
          </p:cNvPr>
          <p:cNvCxnSpPr/>
          <p:nvPr/>
        </p:nvCxnSpPr>
        <p:spPr>
          <a:xfrm xmlns:a="http://schemas.openxmlformats.org/drawingml/2006/main">
            <a:off x="428625" y="3000375"/>
            <a:ext cx="11334750" cy="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C9DEE5"/>
            </a:solidFill>
          </a:ln>
        </p:spPr>
      </p:cxnSp>
      <p:sp>
        <p:nvSpPr>
          <p:cNvPr id="17" name="02  影像与回忆">
            <a:extLst xmlns:a="http://schemas.openxmlformats.org/drawingml/2006/main">
              <a:ext uri="{FF2B5EF4-FFF2-40B4-BE49-F238E27FC236}">
                <a16:creationId xmlns:a16="http://schemas.microsoft.com/office/drawing/2014/main" id="{E659035A-8958-477D-AA10-BF811EE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48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02  影像与回忆</a:t>
            </a:r>
          </a:p>
        </p:txBody>
      </p:sp>
      <p:sp>
        <p:nvSpPr>
          <p:cNvPr id="18" name="影像怎样&#10;参与回想？">
            <a:extLst xmlns:a="http://schemas.openxmlformats.org/drawingml/2006/main">
              <a:ext uri="{FF2B5EF4-FFF2-40B4-BE49-F238E27FC236}">
                <a16:creationId xmlns:a16="http://schemas.microsoft.com/office/drawing/2014/main" id="{515363ED-0F98-4336-AFDF-4151770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290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影像怎样</a:t>
            </a:r>
          </a:p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参与回想？</a:t>
            </a:r>
          </a:p>
        </p:txBody>
      </p:sp>
      <p:sp>
        <p:nvSpPr>
          <p:cNvPr id="19" name="内部回忆">
            <a:extLst xmlns:a="http://schemas.openxmlformats.org/drawingml/2006/main">
              <a:ext uri="{FF2B5EF4-FFF2-40B4-BE49-F238E27FC236}">
                <a16:creationId xmlns:a16="http://schemas.microsoft.com/office/drawing/2014/main" id="{70191B66-0423-4723-93C2-18A93A9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内部回忆</a:t>
            </a:r>
          </a:p>
        </p:txBody>
      </p:sp>
      <p:sp>
        <p:nvSpPr>
          <p:cNvPr id="20" name="外部资料&#10;照片、视频、文字等">
            <a:extLst xmlns:a="http://schemas.openxmlformats.org/drawingml/2006/main">
              <a:ext uri="{FF2B5EF4-FFF2-40B4-BE49-F238E27FC236}">
                <a16:creationId xmlns:a16="http://schemas.microsoft.com/office/drawing/2014/main" id="{9E326F02-14BB-4C0E-8E34-184159FD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1907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外部资料</a:t>
            </a:r>
          </a:p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照片、视频、文字等</a:t>
            </a:r>
          </a:p>
        </p:txBody>
      </p:sp>
      <p:sp>
        <p:nvSpPr>
          <p:cNvPr id="22" name="反复查找、回想">
            <a:extLst xmlns:a="http://schemas.openxmlformats.org/drawingml/2006/main">
              <a:ext uri="{FF2B5EF4-FFF2-40B4-BE49-F238E27FC236}">
                <a16:creationId xmlns:a16="http://schemas.microsoft.com/office/drawing/2014/main" id="{5844BD46-0F90-4F8A-A2BE-C45A959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67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反复查找、回想</a:t>
            </a:r>
          </a:p>
        </p:txBody>
      </p:sp>
      <p:sp>
        <p:nvSpPr>
          <p:cNvPr id="23" name="41 人研究：&#10;随机日使用更多资料，&#10;内外切换更频繁">
            <a:extLst xmlns:a="http://schemas.openxmlformats.org/drawingml/2006/main">
              <a:ext uri="{FF2B5EF4-FFF2-40B4-BE49-F238E27FC236}">
                <a16:creationId xmlns:a16="http://schemas.microsoft.com/office/drawing/2014/main" id="{08FBB0E4-DB2F-4BEE-B0F4-695A91F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57575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41 人研究：</a:t>
            </a:r>
          </a:p>
          <a:p xmlns:a="http://schemas.openxmlformats.org/drawingml/2006/main">
            <a: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随机日使用更多资料，</a:t>
            </a:r>
          </a:p>
          <a:p xmlns:a="http://schemas.openxmlformats.org/drawingml/2006/main">
            <a:pPr algn="l">
              <a:def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内外切换更频繁</a:t>
            </a:r>
          </a:p>
        </p:txBody>
      </p:sp>
      <p:sp>
        <p:nvSpPr>
          <p:cNvPr id="24" name="照片引谈：观看与讨论影像，引出信息、感受与记忆">
            <a:extLst xmlns:a="http://schemas.openxmlformats.org/drawingml/2006/main">
              <a:ext uri="{FF2B5EF4-FFF2-40B4-BE49-F238E27FC236}">
                <a16:creationId xmlns:a16="http://schemas.microsoft.com/office/drawing/2014/main" id="{38614AD2-9846-4790-A019-E87A13BB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照片引谈：观看与讨论影像，引出信息、感受与记忆</a:t>
            </a:r>
          </a:p>
        </p:txBody>
      </p:sp>
      <p:sp>
        <p:nvSpPr>
          <p:cNvPr id="25" name="Hutmacher 等（2025）；Harper（2002，照片引谈法）">
            <a:extLst xmlns:a="http://schemas.openxmlformats.org/drawingml/2006/main">
              <a:ext uri="{FF2B5EF4-FFF2-40B4-BE49-F238E27FC236}">
                <a16:creationId xmlns:a16="http://schemas.microsoft.com/office/drawing/2014/main" id="{D6310E72-5E28-490C-9DD1-97D854E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Hutmacher 等（2025）；Harper（2002，照片引谈法）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C0685-AC3B-4157-9A62-F0A8B7F29780}"/>
              </a:ext>
            </a:extLst>
          </p:cNvPr>
          <p:cNvCxnSpPr/>
          <p:nvPr/>
        </p:nvCxnSpPr>
        <p:spPr>
          <a:xfrm xmlns:a="http://schemas.openxmlformats.org/drawingml/2006/main">
            <a:off x="428625" y="4953000"/>
            <a:ext cx="11334750" cy="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C9DEE5"/>
            </a:solidFill>
          </a:ln>
        </p:spPr>
      </p:cxnSp>
      <p:sp>
        <p:nvSpPr>
          <p:cNvPr id="27" name="03  影像表达">
            <a:extLst xmlns:a="http://schemas.openxmlformats.org/drawingml/2006/main">
              <a:ext uri="{FF2B5EF4-FFF2-40B4-BE49-F238E27FC236}">
                <a16:creationId xmlns:a16="http://schemas.microsoft.com/office/drawing/2014/main" id="{425D802E-D129-4985-ABC1-EC346CB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72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03  影像表达</a:t>
            </a:r>
          </a:p>
        </p:txBody>
      </p:sp>
      <p:sp>
        <p:nvSpPr>
          <p:cNvPr id="28" name="影像怎样&#10;表达个人经历？">
            <a:extLst xmlns:a="http://schemas.openxmlformats.org/drawingml/2006/main">
              <a:ext uri="{FF2B5EF4-FFF2-40B4-BE49-F238E27FC236}">
                <a16:creationId xmlns:a16="http://schemas.microsoft.com/office/drawing/2014/main" id="{7C1883AC-9D99-4E8D-9212-917BA2B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5307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影像怎样</a:t>
            </a:r>
          </a:p>
          <a:p xmlns:a="http://schemas.openxmlformats.org/drawingml/2006/main">
            <a:pPr algn="l">
              <a:def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表达个人经历？</a:t>
            </a:r>
          </a:p>
        </p:txBody>
      </p:sp>
      <p:sp>
        <p:nvSpPr>
          <p:cNvPr id="29" name="个人／家庭&#10;影像档案">
            <a:extLst xmlns:a="http://schemas.openxmlformats.org/drawingml/2006/main">
              <a:ext uri="{FF2B5EF4-FFF2-40B4-BE49-F238E27FC236}">
                <a16:creationId xmlns:a16="http://schemas.microsoft.com/office/drawing/2014/main" id="{B53DD07C-22C2-471C-880D-18DE97B0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66687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个人／家庭</a:t>
            </a:r>
          </a:p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影像档案</a:t>
            </a:r>
          </a:p>
        </p:txBody>
      </p:sp>
      <p:sp>
        <p:nvSpPr>
          <p:cNvPr id="30" name="选择、剪辑与讲述&#10;重新组织材料">
            <a:extLst xmlns:a="http://schemas.openxmlformats.org/drawingml/2006/main">
              <a:ext uri="{FF2B5EF4-FFF2-40B4-BE49-F238E27FC236}">
                <a16:creationId xmlns:a16="http://schemas.microsoft.com/office/drawing/2014/main" id="{77D630C0-9FD1-4E1A-8D18-35066E3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53050"/>
            <a:ext cx="2095500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选择、剪辑与讲述</a:t>
            </a:r>
          </a:p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重新组织材料</a:t>
            </a:r>
          </a:p>
        </p:txBody>
      </p:sp>
      <p:sp>
        <p:nvSpPr>
          <p:cNvPr id="31" name="自传叙事&#10;与自我表达">
            <a:extLst xmlns:a="http://schemas.openxmlformats.org/drawingml/2006/main">
              <a:ext uri="{FF2B5EF4-FFF2-40B4-BE49-F238E27FC236}">
                <a16:creationId xmlns:a16="http://schemas.microsoft.com/office/drawing/2014/main" id="{9D3818B9-879C-4CF3-A737-3DC4C7B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29250"/>
            <a:ext cx="17621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1F1F4"/>
          </a:solidFill>
          <a:ln xmlns:a="http://schemas.openxmlformats.org/drawingml/2006/main" w="11430">
            <a:solidFill>
              <a:srgbClr val="B7D2DC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自传叙事</a:t>
            </a:r>
          </a:p>
          <a:p xmlns:a="http://schemas.openxmlformats.org/drawingml/2006/main">
            <a:pPr algn="ctr">
              <a:def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3F51"/>
                </a:solidFill>
                <a:latin typeface="PingFang SC"/>
                <a:ea typeface="PingFang SC"/>
                <a:cs typeface="PingFang SC"/>
              </a:rPr>
              <a:t>与自我表达</a:t>
            </a:r>
          </a:p>
        </p:txBody>
      </p:sp>
      <p:sp>
        <p:nvSpPr>
          <p:cNvPr id="34" name="三部自传纪录片&#10;分析档案与蒙太奇">
            <a:extLst xmlns:a="http://schemas.openxmlformats.org/drawingml/2006/main">
              <a:ext uri="{FF2B5EF4-FFF2-40B4-BE49-F238E27FC236}">
                <a16:creationId xmlns:a16="http://schemas.microsoft.com/office/drawing/2014/main" id="{717A4157-9B6B-4F13-A3DA-0FCEDC0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76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三部自传纪录片</a:t>
            </a:r>
          </a:p>
          <a:p xmlns:a="http://schemas.openxmlformats.org/drawingml/2006/main">
            <a:pPr algn="l">
              <a:def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分析档案与蒙太奇</a:t>
            </a:r>
          </a:p>
        </p:txBody>
      </p:sp>
      <p:sp>
        <p:nvSpPr>
          <p:cNvPr id="35" name="Rosas &amp; Dittus（2021；在线发表于 2020）">
            <a:extLst xmlns:a="http://schemas.openxmlformats.org/drawingml/2006/main">
              <a:ext uri="{FF2B5EF4-FFF2-40B4-BE49-F238E27FC236}">
                <a16:creationId xmlns:a16="http://schemas.microsoft.com/office/drawing/2014/main" id="{682045B7-DDD2-4D7E-923B-9CA32FE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00775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6A83"/>
                </a:solidFill>
                <a:latin typeface="PingFang SC"/>
                <a:ea typeface="PingFang SC"/>
                <a:cs typeface="PingFang SC"/>
              </a:rPr>
              <a:t>Rosas &amp; Dittus（2021；在线发表于 2020）</a:t>
            </a:r>
          </a:p>
        </p:txBody>
      </p:sp>
      <p:sp>
        <p:nvSpPr>
          <p:cNvPr id="36" name="据文献内容简化重绘｜引出讲述、表达贴切与回忆准确性需分别判断">
            <a:extLst xmlns:a="http://schemas.openxmlformats.org/drawingml/2006/main">
              <a:ext uri="{FF2B5EF4-FFF2-40B4-BE49-F238E27FC236}">
                <a16:creationId xmlns:a16="http://schemas.microsoft.com/office/drawing/2014/main" id="{8311CC0E-D055-4F5C-BA3E-81667D9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81775"/>
            <a:ext cx="1133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E8B"/>
                </a:solidFill>
                <a:latin typeface="PingFang SC"/>
                <a:ea typeface="PingFang SC"/>
                <a:cs typeface="PingFang SC"/>
              </a:rPr>
              <a:t>据文献内容简化重绘｜引出讲述、表达贴切与回忆准确性需分别判断</a:t>
            </a:r>
          </a:p>
        </p:txBody>
      </p:sp>
    </p:spTree>
    <p:extLst>
      <p:ext uri="{BB962C8B-B14F-4D97-AF65-F5344CB8AC3E}">
        <p14:creationId xmlns:p14="http://schemas.microsoft.com/office/powerpoint/2010/main" val="318426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2026-10-28T14:26:28.1340000Z</dcterms:created>
  <dcterms:modified xsi:type="dcterms:W3CDTF">2026-10-28T14:26:28.1340000Z</dcterms:modified>
</coreProperties>
</file>